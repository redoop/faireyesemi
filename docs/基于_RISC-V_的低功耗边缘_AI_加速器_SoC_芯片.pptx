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首页没有了。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1"/>
          <p:cNvSpPr/>
          <p:nvPr/>
        </p:nvSpPr>
        <p:spPr>
          <a:xfrm>
            <a:off x="3000375" y="1303651"/>
            <a:ext cx="3516511" cy="6215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3750" b="1" kern="0" spc="-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基于 RISC-V 的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3000375" y="1884778"/>
            <a:ext cx="3170039" cy="5400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3750" b="1" kern="0" spc="-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低功耗边缘 AI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3000375" y="2383752"/>
            <a:ext cx="3845123" cy="6215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3750" b="1" kern="0" spc="-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加速器 SOC 芯片</a:t>
            </a:r>
            <a:endParaRPr lang="en-US" sz="3750" dirty="0"/>
          </a:p>
        </p:txBody>
      </p:sp>
      <p:sp>
        <p:nvSpPr>
          <p:cNvPr id="8" name="Text 4"/>
          <p:cNvSpPr/>
          <p:nvPr/>
        </p:nvSpPr>
        <p:spPr>
          <a:xfrm>
            <a:off x="3000375" y="3307779"/>
            <a:ext cx="6143625" cy="351830"/>
          </a:xfrm>
          <a:prstGeom prst="rect">
            <a:avLst/>
          </a:prstGeom>
          <a:noFill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开源鸿蒙/RISC-V 创新应用大赛参展项目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000375" y="4488061"/>
            <a:ext cx="2100263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1150" dirty="0">
                <a:solidFill>
                  <a:srgbClr val="47556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参赛团队</a:t>
            </a:r>
            <a:r>
              <a:rPr lang="en-US" sz="1150" dirty="0">
                <a:solidFill>
                  <a:srgbClr val="47556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Redoop.AI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29263" y="4488061"/>
            <a:ext cx="1607344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发布日期</a:t>
            </a:r>
            <a:r>
              <a:rPr lang="en-US" sz="1150" dirty="0">
                <a:solidFill>
                  <a:srgbClr val="47556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2026 年 5 月</a:t>
            </a:r>
            <a:endParaRPr lang="en-US" sz="1100" dirty="0"/>
          </a:p>
        </p:txBody>
      </p:sp>
    </p:spTree>
  </p:cSld>
  <p:clrMapOvr>
    <a:masterClrMapping/>
  </p:clrMapOvr>
  <p:transition advTm="3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42937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项目背景与愿景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27606"/>
            <a:ext cx="31432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行业趋势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500" y="1657992"/>
            <a:ext cx="31432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边缘计算需求激增，AI 推理正从云端走向终端设备。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857625" y="1427606"/>
            <a:ext cx="31432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核心痛点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57625" y="1657992"/>
            <a:ext cx="31432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传统 AI 芯片功耗高、面积大，难以适配小型 IoT 设备。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2280893"/>
            <a:ext cx="31432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技术方案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511279"/>
            <a:ext cx="31432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结合 RISC-V 开放架构与 BitNet 无乘法器技术，打造极致能效。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57625" y="2280893"/>
            <a:ext cx="31432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生态价值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7625" y="2511279"/>
            <a:ext cx="31432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为 OpenHarmony 提供高性能、低功耗的国产自主芯片底座。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" y="3191331"/>
            <a:ext cx="5715000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“致力于构建万物智联时代的</a:t>
            </a:r>
            <a:r>
              <a:rPr lang="en-US" sz="14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高能效国产芯片</a:t>
            </a: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生态，让每一台边</a:t>
            </a: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缘设备都拥有强大的 AI 推理能力。”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0F172A"/>
          </a:solidFill>
        </p:spPr>
      </p:sp>
    </p:spTree>
  </p:cSld>
  <p:clrMapOvr>
    <a:masterClrMapping/>
  </p:clrMapOvr>
  <p:transition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42900"/>
          </a:xfrm>
          <a:prstGeom prst="rect">
            <a:avLst/>
          </a:prstGeom>
          <a:noFill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系统架构概览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626487"/>
            <a:ext cx="2666991" cy="1288359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626487"/>
            <a:ext cx="2647959" cy="419695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75060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1712212"/>
            <a:ext cx="1212652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PicoRV32 核心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6048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2950" y="2131907"/>
            <a:ext cx="134123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采用 RV32I 精简指令集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411936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950" y="2383361"/>
            <a:ext cx="128587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高度可定制的开源架构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663391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2950" y="2634816"/>
            <a:ext cx="128587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优化的面积与功耗平衡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3219459" y="1626487"/>
            <a:ext cx="2676534" cy="1288359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228975" y="1626487"/>
            <a:ext cx="2657475" cy="419695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275" y="1750609"/>
            <a:ext cx="128588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557588" y="1712212"/>
            <a:ext cx="10287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双加速器引擎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275" y="2160482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43300" y="2131907"/>
            <a:ext cx="2075259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CompactAccel: 8x8 通用矩阵加速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3275" y="2411936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43300" y="2383361"/>
            <a:ext cx="1941314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BitNetAccel: 2-bit 无乘法器推理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3275" y="2663391"/>
            <a:ext cx="128588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43300" y="2634816"/>
            <a:ext cx="128587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硬件级稀疏性优化支持</a:t>
            </a:r>
            <a:endParaRPr lang="en-US" sz="950" dirty="0"/>
          </a:p>
        </p:txBody>
      </p:sp>
      <p:sp>
        <p:nvSpPr>
          <p:cNvPr id="24" name="Shape 13"/>
          <p:cNvSpPr/>
          <p:nvPr/>
        </p:nvSpPr>
        <p:spPr>
          <a:xfrm>
            <a:off x="6029325" y="1626487"/>
            <a:ext cx="2686050" cy="1288359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6048356" y="1626487"/>
            <a:ext cx="2666991" cy="419695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56" y="1750609"/>
            <a:ext cx="128588" cy="17145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376969" y="1712212"/>
            <a:ext cx="6858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外设接口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56" y="2160482"/>
            <a:ext cx="128588" cy="1285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362681" y="2131907"/>
            <a:ext cx="154840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UART 串口：程序动态上传</a:t>
            </a:r>
            <a:endParaRPr lang="en-US" sz="95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56" y="2411936"/>
            <a:ext cx="128588" cy="128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362681" y="2383361"/>
            <a:ext cx="152340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LCD SPI：实时图形化显示</a:t>
            </a:r>
            <a:endParaRPr lang="en-US" sz="95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56" y="2663391"/>
            <a:ext cx="128588" cy="12858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362681" y="2634816"/>
            <a:ext cx="178415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GPIO：通用传感器/执行器连接</a:t>
            </a:r>
            <a:endParaRPr lang="en-US" sz="950" dirty="0"/>
          </a:p>
        </p:txBody>
      </p:sp>
      <p:sp>
        <p:nvSpPr>
          <p:cNvPr id="34" name="Shape 19"/>
          <p:cNvSpPr/>
          <p:nvPr/>
        </p:nvSpPr>
        <p:spPr>
          <a:xfrm>
            <a:off x="0" y="3014858"/>
            <a:ext cx="9144000" cy="3982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5" name="Text 20"/>
          <p:cNvSpPr/>
          <p:nvPr/>
        </p:nvSpPr>
        <p:spPr>
          <a:xfrm>
            <a:off x="0" y="3014858"/>
            <a:ext cx="9144000" cy="398264"/>
          </a:xfrm>
          <a:prstGeom prst="rect">
            <a:avLst/>
          </a:prstGeom>
          <a:noFill/>
        </p:spPr>
        <p:txBody>
          <a:bodyPr wrap="square" lIns="510286" tIns="102108" rIns="0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集成化 SOC 设计 · 极致能效比 · 完美适配边缘 AI 推理</a:t>
            </a:r>
            <a:endParaRPr lang="en-US" sz="1100" dirty="0"/>
          </a:p>
        </p:txBody>
      </p:sp>
    </p:spTree>
  </p:cSld>
  <p:clrMapOvr>
    <a:masterClrMapping/>
  </p:clrMapOvr>
  <p:transition advTm="3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1"/>
          <p:cNvSpPr/>
          <p:nvPr/>
        </p:nvSpPr>
        <p:spPr>
          <a:xfrm>
            <a:off x="285750" y="428625"/>
            <a:ext cx="2000250" cy="13201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核心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创新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BITNET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714625" y="628650"/>
            <a:ext cx="290036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技术突破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14625" y="873323"/>
            <a:ext cx="2900363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2-bit 权重编码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14625" y="1234083"/>
            <a:ext cx="29003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采用 {-1, 0, +1} 三值化权重，极大简化了神经网络的存储与计算复杂度。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15013" y="628650"/>
            <a:ext cx="290036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硬件实现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15013" y="873323"/>
            <a:ext cx="2900363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无乘法器设计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15013" y="1234083"/>
            <a:ext cx="29003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使用加法和移位操作替代传统昂贵的乘法器，显著降低逻辑资源占用。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14625" y="1819870"/>
            <a:ext cx="6000750" cy="785813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2" name="Text 9"/>
          <p:cNvSpPr/>
          <p:nvPr/>
        </p:nvSpPr>
        <p:spPr>
          <a:xfrm>
            <a:off x="3000375" y="1948458"/>
            <a:ext cx="1752591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60%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000375" y="2312789"/>
            <a:ext cx="1752591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功耗降低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81566" y="1948458"/>
            <a:ext cx="1752591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10X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981566" y="2312789"/>
            <a:ext cx="1752591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内存压缩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62756" y="1948458"/>
            <a:ext cx="1752591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26.2%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962756" y="2312789"/>
            <a:ext cx="1752591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8FAF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实测稀疏度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14625" y="2734270"/>
            <a:ext cx="6000750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自动跳过零权重计算，进一步提升推理效率。</a:t>
            </a:r>
            <a:endParaRPr lang="en-US" sz="850" dirty="0"/>
          </a:p>
        </p:txBody>
      </p:sp>
    </p:spTree>
  </p:cSld>
  <p:clrMapOvr>
    <a:masterClrMapping/>
  </p:clrMapOvr>
  <p:transition advTm="3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342900"/>
          </a:xfrm>
          <a:prstGeom prst="rect">
            <a:avLst/>
          </a:prstGeom>
          <a:noFill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芯片规格与性能指标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200" y="1583624"/>
            <a:ext cx="2428875" cy="514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6.4</a:t>
            </a:r>
            <a:r>
              <a:rPr lang="en-US" sz="16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GOPS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57200" y="2155124"/>
            <a:ext cx="242887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峰值推理性能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674832"/>
            <a:ext cx="2428875" cy="5143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&lt;100</a:t>
            </a:r>
            <a:r>
              <a:rPr lang="en-US" sz="16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mW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457200" y="3246332"/>
            <a:ext cx="242887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目标工作功耗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21819" y="1462181"/>
            <a:ext cx="1965145" cy="3571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9" name="Text 6"/>
          <p:cNvSpPr/>
          <p:nvPr/>
        </p:nvSpPr>
        <p:spPr>
          <a:xfrm>
            <a:off x="3121819" y="1462181"/>
            <a:ext cx="1965145" cy="357188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参数项目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86964" y="1462181"/>
            <a:ext cx="3592692" cy="3571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1" name="Text 8"/>
          <p:cNvSpPr/>
          <p:nvPr/>
        </p:nvSpPr>
        <p:spPr>
          <a:xfrm>
            <a:off x="5086964" y="1462181"/>
            <a:ext cx="3592692" cy="357188"/>
          </a:xfrm>
          <a:prstGeom prst="rect">
            <a:avLst/>
          </a:prstGeom>
          <a:noFill/>
        </p:spPr>
        <p:txBody>
          <a:bodyPr wrap="square" lIns="102108" tIns="85090" rIns="102108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设计规格 / 实测数据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21819" y="1819368"/>
            <a:ext cx="1965145" cy="305395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工艺制程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86964" y="1819368"/>
            <a:ext cx="3592692" cy="305395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创芯 55nm 开源 PDK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21819" y="2124763"/>
            <a:ext cx="5557838" cy="308967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Text 12"/>
          <p:cNvSpPr/>
          <p:nvPr/>
        </p:nvSpPr>
        <p:spPr>
          <a:xfrm>
            <a:off x="3121819" y="2124763"/>
            <a:ext cx="1965145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芯片面积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86964" y="2124763"/>
            <a:ext cx="3592692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0.31 mm² (307,052 um²)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121819" y="2433731"/>
            <a:ext cx="1965145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主频 (目标/实测)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86964" y="2433731"/>
            <a:ext cx="3592692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100 MHz / 176.998 MHz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21819" y="2742698"/>
            <a:ext cx="5557838" cy="308967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7"/>
          <p:cNvSpPr/>
          <p:nvPr/>
        </p:nvSpPr>
        <p:spPr>
          <a:xfrm>
            <a:off x="3121819" y="2742698"/>
            <a:ext cx="1965145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静态功耗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86964" y="2742698"/>
            <a:ext cx="3592692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644.5 uW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121819" y="3051665"/>
            <a:ext cx="1965145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标准单元数量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86964" y="3051665"/>
            <a:ext cx="3592692" cy="308967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77,004 个 (STDCELL)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21819" y="3360632"/>
            <a:ext cx="5557838" cy="312539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2"/>
          <p:cNvSpPr/>
          <p:nvPr/>
        </p:nvSpPr>
        <p:spPr>
          <a:xfrm>
            <a:off x="3121819" y="3360632"/>
            <a:ext cx="1965145" cy="312539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时序裕量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086964" y="3360632"/>
            <a:ext cx="3592692" cy="312539"/>
          </a:xfrm>
          <a:prstGeom prst="rect">
            <a:avLst/>
          </a:prstGeom>
          <a:noFill/>
        </p:spPr>
        <p:txBody>
          <a:bodyPr wrap="square" lIns="85090" tIns="68072" rIns="85090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76.998 MHz (超出目标 76.9%)</a:t>
            </a:r>
            <a:endParaRPr lang="en-US" sz="950" dirty="0"/>
          </a:p>
        </p:txBody>
      </p:sp>
    </p:spTree>
  </p:cSld>
  <p:clrMapOvr>
    <a:masterClrMapping/>
  </p:clrMapOvr>
  <p:transition advTm="3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6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42937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硬件设计与验证体系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7587"/>
            <a:ext cx="2857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1550" y="1256156"/>
            <a:ext cx="60293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敏捷硬件开发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71550" y="1547264"/>
            <a:ext cx="60293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基于 Chisel 3.x 高级硬件描述语言，利用 Scala 强大的参数化建模能力，显著提升设计效率与可维护性。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0164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550" y="1868732"/>
            <a:ext cx="60293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全流程仿真验证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71550" y="2159840"/>
            <a:ext cx="60293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集成 ChiselTest 单元测试与 Verilator 系统级仿真，覆盖从模块级到 SoC 顶层的完整功能验证。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0274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50" y="2481309"/>
            <a:ext cx="6029325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开源 EDA 工具链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71550" y="2772417"/>
            <a:ext cx="60293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全流程支持 Yosys 综合、OpenROAD 布局布线及创芯 55nm 开源 PDK，实现芯片设计的自主可控。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7000875" y="0"/>
            <a:ext cx="2143125" cy="528637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4" name="Text 8"/>
          <p:cNvSpPr/>
          <p:nvPr/>
        </p:nvSpPr>
        <p:spPr>
          <a:xfrm>
            <a:off x="7408069" y="142875"/>
            <a:ext cx="1328738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95%</a:t>
            </a:r>
            <a:endParaRPr lang="en-US" sz="4150" dirty="0"/>
          </a:p>
        </p:txBody>
      </p:sp>
      <p:sp>
        <p:nvSpPr>
          <p:cNvPr id="15" name="Text 9"/>
          <p:cNvSpPr/>
          <p:nvPr/>
        </p:nvSpPr>
        <p:spPr>
          <a:xfrm>
            <a:off x="7408069" y="785813"/>
            <a:ext cx="132873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验证覆盖率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7408069" y="1078706"/>
            <a:ext cx="132873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已通过 DRC / LVS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物理验证检查</a:t>
            </a:r>
            <a:endParaRPr lang="en-US" sz="850" dirty="0"/>
          </a:p>
        </p:txBody>
      </p:sp>
    </p:spTree>
  </p:cSld>
  <p:clrMapOvr>
    <a:masterClrMapping/>
  </p:clrMapOvr>
  <p:transition advTm="3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429375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软件生态与交互设计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70456"/>
            <a:ext cx="457200" cy="4572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86" y="1499043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370456"/>
            <a:ext cx="58578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灵活编程与动态上传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43000" y="1702640"/>
            <a:ext cx="58578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支持通过 UART 串口实时上传 AI 推理程序，无需重新烧录固件，提升开发效率。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71500" y="2024109"/>
            <a:ext cx="457200" cy="4572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86" y="2152697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024109"/>
            <a:ext cx="58578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实时交互与图形化显示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43000" y="2356293"/>
            <a:ext cx="58578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集成 TFT LCD SPI 驱动，可实时展示 AI 推理结果、系统负载及传感器数据。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71500" y="2677762"/>
            <a:ext cx="457200" cy="457200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4" y="2806350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677762"/>
            <a:ext cx="58578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OpenHarmony 深度适配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43000" y="3009947"/>
            <a:ext cx="58578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提供标准化的寄存器映射接口，支持 OpenHarmony HDF 驱动框架快速接入。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87697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57250" y="3560015"/>
            <a:ext cx="227707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构建软硬一体的国产开源 AI 生态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7000875" y="0"/>
            <a:ext cx="2143125" cy="5000625"/>
          </a:xfrm>
          <a:prstGeom prst="rect">
            <a:avLst/>
          </a:prstGeom>
          <a:solidFill>
            <a:srgbClr val="0F172A"/>
          </a:solidFill>
        </p:spPr>
      </p:sp>
    </p:spTree>
  </p:cSld>
  <p:clrMapOvr>
    <a:masterClrMapping/>
  </p:clrMapOvr>
  <p:transition advTm="3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1"/>
          <p:cNvSpPr/>
          <p:nvPr/>
        </p:nvSpPr>
        <p:spPr>
          <a:xfrm>
            <a:off x="285750" y="428625"/>
            <a:ext cx="2000250" cy="13201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应用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场景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SCENARIOS</a:t>
            </a:r>
            <a:endParaRPr lang="en-US" sz="2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03" y="655439"/>
            <a:ext cx="32146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14700" y="628650"/>
            <a:ext cx="54006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智能家居与家电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314700" y="975122"/>
            <a:ext cx="540067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支持语音唤醒、离线指令识别及手势控制，为 OpenHarmony 智能终端提供极低功耗的常驻 AI 能力。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203" y="1859161"/>
            <a:ext cx="321469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14700" y="1832372"/>
            <a:ext cx="54006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工业物联网 (IIOT)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314700" y="2178844"/>
            <a:ext cx="540067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部署于边缘传感器节点，实现设备状态实时监测、振动分析及异常预警，降低数据上传带宽压力。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314700" y="3036094"/>
            <a:ext cx="5400675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可穿戴与健康设备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14700" y="3382566"/>
            <a:ext cx="540067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在极小电池容量下运行运动模式识别、心率异常检测等 AI 算法，显著延长设备续航时间。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714625" y="4345186"/>
            <a:ext cx="6000750" cy="5125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Text 9"/>
          <p:cNvSpPr/>
          <p:nvPr/>
        </p:nvSpPr>
        <p:spPr>
          <a:xfrm>
            <a:off x="2714625" y="4345186"/>
            <a:ext cx="6000750" cy="512564"/>
          </a:xfrm>
          <a:prstGeom prst="rect">
            <a:avLst/>
          </a:prstGeom>
          <a:noFill/>
        </p:spPr>
        <p:txBody>
          <a:bodyPr wrap="square" lIns="255143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硬件级 BitNet 支持 · 赋能 OpenHarmony 极致能效体验</a:t>
            </a:r>
            <a:endParaRPr lang="en-US" sz="1100" dirty="0"/>
          </a:p>
        </p:txBody>
      </p:sp>
    </p:spTree>
  </p:cSld>
  <p:clrMapOvr>
    <a:masterClrMapping/>
  </p:clrMapOvr>
  <p:transition advTm="3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1"/>
          <p:cNvSpPr/>
          <p:nvPr/>
        </p:nvSpPr>
        <p:spPr>
          <a:xfrm>
            <a:off x="285750" y="428625"/>
            <a:ext cx="2000250" cy="13201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展览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亮点</a:t>
            </a:r>
            <a:r>
              <a:rPr lang="en-US" sz="28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28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714625" y="771525"/>
            <a:ext cx="28575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矩阵计算效率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14625" y="1030486"/>
            <a:ext cx="2857500" cy="4143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518 </a:t>
            </a:r>
            <a:r>
              <a:rPr lang="en-US" sz="12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Cycles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2714625" y="1480542"/>
            <a:ext cx="28575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8x8 矩阵计算实测周期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7875" y="771525"/>
            <a:ext cx="28575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资源占用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7875" y="1030486"/>
            <a:ext cx="2857500" cy="4143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77,004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5857875" y="1480542"/>
            <a:ext cx="28575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标准单元 (STDCELL) 数量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14625" y="1953816"/>
            <a:ext cx="3171825" cy="1885950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96691"/>
            <a:ext cx="2857500" cy="1714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43625" y="2197596"/>
            <a:ext cx="2571750" cy="136981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Text 10"/>
          <p:cNvSpPr/>
          <p:nvPr/>
        </p:nvSpPr>
        <p:spPr>
          <a:xfrm>
            <a:off x="6429375" y="2411909"/>
            <a:ext cx="22860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流片准备状态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29375" y="2731591"/>
            <a:ext cx="2286000" cy="6215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• DRC 设计规则检查通过</a:t>
            </a:r>
            <a:r>
              <a:rPr lang="en-US" sz="100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100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• LVS 版图一致性验证通过</a:t>
            </a:r>
            <a:r>
              <a:rPr lang="en-US" sz="100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
</a:t>
            </a:r>
            <a:r>
              <a:rPr lang="en-US" sz="100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• 具备 55nm 工艺流片条件</a:t>
            </a:r>
            <a:endParaRPr lang="en-US" sz="1000" dirty="0"/>
          </a:p>
        </p:txBody>
      </p:sp>
    </p:spTree>
  </p:cSld>
  <p:clrMapOvr>
    <a:masterClrMapping/>
  </p:clrMapOvr>
  <p:transition advTm="3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1"/>
          <p:cNvSpPr/>
          <p:nvPr/>
        </p:nvSpPr>
        <p:spPr>
          <a:xfrm>
            <a:off x="2857500" y="903517"/>
            <a:ext cx="6286500" cy="4400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总结与展望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2857500" y="1786468"/>
            <a:ext cx="30289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项目总结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0" y="2045429"/>
            <a:ext cx="3028950" cy="7072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成功实现了一款基于 RISC-V 架构、集成 BitNet 创新技术的极低功耗 AI SoC，为边缘计算提供了高效的国产化方案。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15050" y="1786468"/>
            <a:ext cx="302895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未来规划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15050" y="2045429"/>
            <a:ext cx="3028950" cy="7072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持续优化 BitNet 算法库，深度适配 OpenHarmony 内核与 HDF 驱动框架，推动软硬一体化生态建设。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857500" y="4527352"/>
            <a:ext cx="2286000" cy="330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感谢您的观看与支持！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67601" y="4482703"/>
            <a:ext cx="1104900" cy="2921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sym typeface="+mn-ea"/>
              </a:rPr>
              <a:t>Redoop.AI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2026 年 5 月 · 深圳</a:t>
            </a:r>
            <a:endParaRPr lang="en-US" sz="950" dirty="0"/>
          </a:p>
        </p:txBody>
      </p:sp>
    </p:spTree>
  </p:cSld>
  <p:clrMapOvr>
    <a:masterClrMapping/>
  </p:clrMapOvr>
  <p:transition advTm="3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1737</Words>
  <Application>WPS 文字</Application>
  <PresentationFormat>On-screen Show (16:9)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3" baseType="lpstr">
      <vt:lpstr>Arial</vt:lpstr>
      <vt:lpstr>宋体</vt:lpstr>
      <vt:lpstr>Wingdings</vt:lpstr>
      <vt:lpstr>Inter ExtraBold</vt:lpstr>
      <vt:lpstr>苹方-简</vt:lpstr>
      <vt:lpstr>Inter ExtraBold</vt:lpstr>
      <vt:lpstr>Inter ExtraBold</vt:lpstr>
      <vt:lpstr>Montserrat Bold</vt:lpstr>
      <vt:lpstr>Montserrat Bold</vt:lpstr>
      <vt:lpstr>Montserrat Bold</vt:lpstr>
      <vt:lpstr>Inter</vt:lpstr>
      <vt:lpstr>Inter</vt:lpstr>
      <vt:lpstr>Inter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童小军</cp:lastModifiedBy>
  <cp:revision>5</cp:revision>
  <dcterms:created xsi:type="dcterms:W3CDTF">2026-05-16T12:17:51Z</dcterms:created>
  <dcterms:modified xsi:type="dcterms:W3CDTF">2026-05-16T12:17:51Z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288126FE4E50FDF06E60086A2A20F146_43</vt:lpwstr>
  </property>
  <property fmtid="{D5CDD505-2E9C-101B-9397-08002B2CF9AE}" pid="3" name="KSOProductBuildVer">
    <vt:lpwstr>2052-6.5.2.8766</vt:lpwstr>
  </property>
</Properties>
</file>